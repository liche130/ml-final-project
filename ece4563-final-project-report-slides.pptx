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Inconsolata"/>
      <p:regular r:id="rId27"/>
      <p:bold r:id="rId28"/>
    </p:embeddedFont>
    <p:embeddedFont>
      <p:font typeface="Fira Code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consolata-bold.fntdata"/><Relationship Id="rId27" Type="http://schemas.openxmlformats.org/officeDocument/2006/relationships/font" Target="fonts/Inconsolat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iraCod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57543b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d57543b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d2f598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d2f598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0d2f5984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0d2f598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0d2f5984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0d2f5984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d2f5984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d2f5984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52efa82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52efa82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d2f5984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0d2f5984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d2f5984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0d2f5984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d2f5984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d2f5984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d2f5984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d2f5984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57543b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d57543b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d2f5984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0d2f5984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0d2f5984b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0d2f5984b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d52efa82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d52efa82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57543b3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57543b3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d57543b3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d57543b3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d2f5984b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0d2f5984b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d2f5984b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d2f5984b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d2f5984b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0d2f5984b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d52efa82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d52efa82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3940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Code"/>
              <a:buChar char="●"/>
              <a:defRPr sz="1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SRClnRxSzNKV_JC0VQsT7xu8cWRg5jNI/view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Code"/>
                <a:ea typeface="Fira Code"/>
                <a:cs typeface="Fira Code"/>
                <a:sym typeface="Fira Code"/>
              </a:rPr>
              <a:t>YAI</a:t>
            </a:r>
            <a:r>
              <a:rPr b="1" lang="en">
                <a:latin typeface="Fira Code"/>
                <a:ea typeface="Fira Code"/>
                <a:cs typeface="Fira Code"/>
                <a:sym typeface="Fira Code"/>
              </a:rPr>
              <a:t>Q</a:t>
            </a:r>
            <a:r>
              <a:rPr b="1" lang="en">
                <a:latin typeface="Fira Code"/>
                <a:ea typeface="Fira Code"/>
                <a:cs typeface="Fira Code"/>
                <a:sym typeface="Fira Code"/>
              </a:rPr>
              <a:t>(S)</a:t>
            </a:r>
            <a:endParaRPr b="1"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latin typeface="Fira Code"/>
                <a:ea typeface="Fira Code"/>
                <a:cs typeface="Fira Code"/>
                <a:sym typeface="Fira Code"/>
              </a:rPr>
              <a:t>Yet Another Image Query (Simpl</a:t>
            </a:r>
            <a:r>
              <a:rPr i="1" lang="en" sz="2600">
                <a:latin typeface="Fira Code"/>
                <a:ea typeface="Fira Code"/>
                <a:cs typeface="Fira Code"/>
                <a:sym typeface="Fira Code"/>
              </a:rPr>
              <a:t>ified</a:t>
            </a:r>
            <a:r>
              <a:rPr i="1" lang="en" sz="2600"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i="1" sz="2600"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62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Che Li		William Lian		Samarth Pusegaonkar</a:t>
            </a:r>
            <a:endParaRPr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Motivations and 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Setup and Architecture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Model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Dataset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DistilBERT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MobileNetV2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Translation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Contrastive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Search Mechanism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Results and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Existing search relies on manual tags and keywords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Requires filename matching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Depends on metadata annotations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350"/>
              <a:t>- Time-consuming manual labeling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350"/>
              <a:t>- Limited to predefined tags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350"/>
              <a:t>- Cannot understand semantic meaning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350"/>
              <a:t>- Fails for natural language queries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PROBLEMS</a:t>
            </a:r>
            <a:endParaRPr/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Enable natural language image 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Understand semantic relationships between images and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Search by describing what you want to find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FORMULATION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79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Objective: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Build a system that maps images and text into a shared semantic space where similar images and descriptions are close together, and dissimilar items are far apart.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Given: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- Image dataset: I = {i1, i2, ..., in}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- Text captions: T = {t1, t2, ..., tn}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Learn: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- Image encoder: f_img: Image → R^256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- Text encoder: f_txt: Text → R^256</a:t>
            </a:r>
            <a:endParaRPr sz="10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50"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4649350" y="1017725"/>
            <a:ext cx="30000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Goal:</a:t>
            </a:r>
            <a:endParaRPr sz="8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Maximize similarity(f_img(image), f_txt(caption)) for matching pairs</a:t>
            </a:r>
            <a:endParaRPr sz="8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Minimize similarity for non-matching pairs</a:t>
            </a:r>
            <a:endParaRPr sz="8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OVERVIEW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187150" y="1061250"/>
            <a:ext cx="3187800" cy="15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1. Dual Encoder Architecture</a:t>
            </a:r>
            <a:endParaRPr sz="10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50"/>
              <a:t>   - Separate encoders for images (MobileNetV2) and text (DistilBERT)</a:t>
            </a:r>
            <a:endParaRPr sz="1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050"/>
              <a:t>   - Map both modalities to common 256-dimensional embedding space</a:t>
            </a:r>
            <a:endParaRPr sz="1050"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6035400" y="3111625"/>
            <a:ext cx="3000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3. Similarity Search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- Compute cosine similarity between query and all images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- Rank by relevance score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- Return top-K results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035400" y="2211250"/>
            <a:ext cx="3000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2. Contrastive Training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- Pull matching image-caption pairs together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- Push non-matching pairs apart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- Use InfoNCE loss function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</a:t>
            </a:r>
            <a:r>
              <a:rPr lang="en"/>
              <a:t> ARCHITECTURE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17725"/>
            <a:ext cx="61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INPUT STAGE: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- Image: 224×224×3 pixels (transform all inputs to this size)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- Text: "A dog playing in the park..." (max 32 tokens)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ENCODER STAGE: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- Image Path: MobileNetV2 (frozen, pre-trained) → 1000-dim features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- Text Path: DistilBERT (frozen, pre-trained) → 768-dim features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TRANSLATION STAGE: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- Image Translation: Linear(1000→512) → ReLU → Linear(512→256) → Normalize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185"/>
              <a:t>- Text Translation: Linear(768→512) → ReLU → Linear(512→256) → Normalize</a:t>
            </a:r>
            <a:endParaRPr sz="118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185"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6591300" y="1054165"/>
            <a:ext cx="23409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OUTPUT:</a:t>
            </a:r>
            <a:endParaRPr sz="1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Need common representation for comparison → learnt translation layer</a:t>
            </a:r>
            <a:endParaRPr sz="1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Both paths produce 256-dimensional normalized embeddings</a:t>
            </a:r>
            <a:endParaRPr sz="1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Shared semantic space where similarity can be computed</a:t>
            </a:r>
            <a:endParaRPr sz="1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Training uses contrastive loss to align the spaces</a:t>
            </a:r>
            <a:endParaRPr sz="1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- FLICKR8K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39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Dataset Overview: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- 8,000 real-world images from Flickr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- 5 captions per image = 40,000 total captions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- Diverse scenes: people, animals, nature, urban environments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Data Split: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- Training: 32,364 image-caption pairs (80%)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- Testing: 8,091 image-caption pairs (20%)</a:t>
            </a:r>
            <a:endParaRPr sz="11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155"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4572000" y="969450"/>
            <a:ext cx="35178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Why Flickr8k?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Real-world images with natural language descriptions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Multiple perspectives per image (5 different captions)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Diverse vocabulary and scene types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Manageable size for training and experimentation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DISTILBERT TEXT ENCODER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01772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What is DistilBERT?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- </a:t>
            </a:r>
            <a:r>
              <a:rPr lang="en" sz="1200"/>
              <a:t>Pre-trained, d</a:t>
            </a:r>
            <a:r>
              <a:rPr lang="en" sz="1200"/>
              <a:t>istilled version of BERT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- 66% smaller, retains 97% of BERT's language understanding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Architecture Highlights: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- 6 transformer layers (vs 12 in original BERT)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- 768-dimensional hidden states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- Multi-head attention mechanism for context understanding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- 66 million parameters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200"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5832300" y="1198325"/>
            <a:ext cx="30000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How We Use It: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1. Tokenize input text (max 32 tokens)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2. Pass through frozen DistilBERT model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3. Extract [CLS] token output (represents entire sentence)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4. Feed to trainable translation layers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5. Output: 256-dim normalized embedding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MOBILENETV2 IMAGE ENCODER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0177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What is MobileNetV2?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- Lightweight CNN designed for mobile/embedded devices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- Pre-trained on ImageNet (1.2M images, 1000 classes)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Architecture Highlights: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- Depthwise separable convolutions (reduce computation)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- Inverted residual blocks with linear bottlenecks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10"/>
              <a:t>- 3.4 million parameters, 1000-dimensional output</a:t>
            </a:r>
            <a:endParaRPr sz="121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210"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5832300" y="1373375"/>
            <a:ext cx="3000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How We Use It:</a:t>
            </a:r>
            <a:endParaRPr sz="121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1. Resize image to 224×224×3</a:t>
            </a:r>
            <a:endParaRPr sz="121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2. Pass through frozen MobileNetV2 model</a:t>
            </a:r>
            <a:endParaRPr sz="121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3. Get 1000-dim feature vector</a:t>
            </a:r>
            <a:endParaRPr sz="121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4. Feed to trainable translation layers</a:t>
            </a:r>
            <a:endParaRPr sz="121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1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5. Output: 256-dim normalized embedding</a:t>
            </a:r>
            <a:endParaRPr sz="121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CONTRASTIVE LEARNING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160600" cy="16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Core Idea: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Learn by comparing pairs of examples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- Positive pairs: matching image-caption pairs (pull together)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- Negative pairs: non-matching pairs (push apart)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InfoNCE Loss Function: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For each image-caption pair in a batch: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Loss = -log( exp(similarity(image, correct_caption) / temperature) / 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355"/>
              <a:t>             sum of exp(similarity(image, all_captions) / temperature) )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355"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CONTRASTIVE LEARNING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160600" cy="16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5"/>
              <a:t>Where: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- similarity = dot product of normalized embeddings (cosine similarity)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- temperature = 0.07 (controls distribution sharpness)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- Batch size = 64 (1 positive + 63 negatives per image)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Intuition: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- Make correct pair have high similarity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- Make incorrect pairs have low similarity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- Temperature: lower = sharper distinctions, higher = softer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5"/>
              <a:t>This forces the model to learn meaningful semantic alignments</a:t>
            </a:r>
            <a:endParaRPr sz="13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355"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772050" y="3519400"/>
            <a:ext cx="1599900" cy="12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Hyperparameters: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- </a:t>
            </a:r>
            <a:r>
              <a:rPr lang="en" sz="800"/>
              <a:t>Optimizer: Adam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- Learning rate: 0.001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- Batch size: 64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- Number of epochs: 10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- Temperature: 0.07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800"/>
              <a:t>- Trainable parameters: ~400K (translation layers only)</a:t>
            </a:r>
            <a:endParaRPr sz="800"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1017725"/>
            <a:ext cx="4260300" cy="2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Training Loop (each epoch):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1. Load batch of 64 image-caption pairs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2. Encode images through MobileNetV2 + translation layers, captions through DistilBERT + translation layers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4. Compute contrastive loss (InfoNCE)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5. Backpropagate gradients (update only translation layers)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4572000" y="1017725"/>
            <a:ext cx="39447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Training Progress (10 epochs):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Initial Train Loss: 2.57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Final Train Loss: 1.99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Initial Validation Loss: 1.97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Final Validation Loss: 1.27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Total training time: ~20 minutes on MPS (Apple Silicon)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MECHANISM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Build Image Database (One-time)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image in dataset: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Load and preprocess image (224×224)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Encode through image encoder → 256-dim embedding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Store triplet: (image_filename, embedding, caption)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Result: Database of 8,090 unique images with embeddings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MECHANISM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24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Phase 2: Search Query (Real-time)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Given text query: "a dog playing in the park"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1. Tokenize and encode query through text encoder → 256-dim embedding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2. Compute similarities: query_embedding @ all_image_embeddings.T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3. Sort by similarity (descending order)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4. Return top-K images with highest scores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Performance: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- Single query time: ~10 milliseconds (8,000 images)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- Efficient matrix multiplication (GPU accelerated)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20"/>
              <a:t>- Scalable: Can handle millions of images with vector databases (FAISS, Pinecone)</a:t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1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120"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261275" y="970925"/>
            <a:ext cx="470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5"/>
              <a:t>Definition: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What percentage of queries successfully retrieve the correct image in the top-K results?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Formula: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Recall@K = (Number of queries where correct image is in top K) / Total queries × 100%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K Values We Test: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- K=1 (top result must be correct)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- K=5 (correct image in top 5)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- K=10 (correct image in top 10) - main metric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- K=20 (correct image in top 20)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85"/>
              <a:t>- K=50 (correct image in top 50)</a:t>
            </a:r>
            <a:endParaRPr sz="98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85"/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5163650" y="1169900"/>
            <a:ext cx="3000000" cy="2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Why This Metric?</a:t>
            </a:r>
            <a:endParaRPr sz="9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Standard Information Retrieval metric</a:t>
            </a:r>
            <a:endParaRPr sz="9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Practical: Users typically scan top 5-10 results</a:t>
            </a:r>
            <a:endParaRPr sz="9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Measures ranking quality</a:t>
            </a:r>
            <a:endParaRPr sz="9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Easy to interpret</a:t>
            </a:r>
            <a:endParaRPr sz="9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28" title="recording2025-12-17 05.50.40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00" y="1071400"/>
            <a:ext cx="6812284" cy="39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ACCURACY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251200" y="1246825"/>
            <a:ext cx="51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420"/>
              <a:t>Similarity-Based Accuracy: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420"/>
              <a:t>- Accuracy at similarity &gt;= 0.3:  99%  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420"/>
              <a:t>- Accuracy at similarity &gt;= 0.4:  99%  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420"/>
              <a:t>- Accuracy at similarity &gt;= 0.5:  95%  [Main Metric]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420"/>
              <a:t>- Accuracy at similarity &gt;= 0.6:  80%  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420"/>
              <a:t>- Accuracy at similarity &gt;= 0.7:  43% 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756"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5472450" y="835200"/>
            <a:ext cx="30000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Interpretation: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Higher accuracy at 0.5 threshold indicates strong semantic understanding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Average similarity close to 0.7+ shows the model confidently identifies correct matches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Narrow score distribution suggests consistent performance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RECALL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251200" y="1246825"/>
            <a:ext cx="512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0"/>
              <a:t>Recall@K Performance: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20"/>
              <a:t>- Recall@1:   16%  (Top result is exactly correct)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20"/>
              <a:t>- Recall@5:   39%  </a:t>
            </a:r>
            <a:r>
              <a:rPr lang="en" sz="1420"/>
              <a:t> (Correct image in top 5 results)</a:t>
            </a:r>
            <a:endParaRPr b="1"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20"/>
              <a:t>- Recall@10:  66%  (Correct image in top 20 results)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20"/>
              <a:t>- Recall@20:  91%  (Correct image in top 50 results)</a:t>
            </a:r>
            <a:endParaRPr sz="142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420"/>
          </a:p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5472450" y="835200"/>
            <a:ext cx="30000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Interpretation: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Higher accuracy at 0.5 threshold indicates strong semantic understanding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Average similarity close to 0.7+ shows the model confidently identifies correct matches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- Narrow score distribution suggests consistent performance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SOLUTIONS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/>
              <a:t>Challenge 1: Image Embeddings Not Normalized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5"/>
              <a:t>Problem: Text embeddings normalized but image embeddings were not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5"/>
              <a:t>Root Cause: Forgot to add F.normalize() to image encoder forward pass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5"/>
              <a:t>Solution: Added normalization to image encoder output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5"/>
              <a:t>Impact: MAJOR improvement - this was the biggest fix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Challenge 2: Database Duplicates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Problem: Same image appeared 5 times in database (one per caption)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Root Cause: Built database from all caption-image pairs without deduplication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Solution: Keep only first occurrence of each unique image filename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Impact: Improved ranking accuracy, clearer evaluation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155"/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1. Scale Up: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Train on larger datasets (COCO: 120K images, Conceptual Captions: 3M)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Use more powerful models (CLIP, BLIP-2, LLaVA)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Fine-tune encoders instead of freezing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2. Advanced Features: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Multi-image search and comparison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Negative queries ("dog but not cat")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Fine-grained attribute search ("red car", "striped shirt")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- Region-based search (find similar parts of images)</a:t>
            </a:r>
            <a:endParaRPr sz="11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190"/>
          </a:p>
        </p:txBody>
      </p:sp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Radford et al. (2021) - "Learning Transferable Visual Models From Natural Language Supervision" (CLIP)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Sanh et al. (2019) - "DistilBERT, a distilled version of BERT"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Sandler et al. (2018) - "MobileNetV2: Inverted Residuals and Linear Bottlenecks"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Oord et al. (2018) - "Representation Learning with Contrastive Predictive Coding" (InfoNCE Loss)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